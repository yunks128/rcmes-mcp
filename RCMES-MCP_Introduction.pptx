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73" r:id="rId2"/>
    <p:sldMasterId id="2147483695" r:id="rId3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6" r:id="rId21"/>
    <p:sldId id="263" r:id="rId18"/>
    <p:sldId id="265" r:id="rId20"/>
    <p:sldId id="264" r:id="rId19"/>
  </p:sldIdLst>
  <p:sldSz cx="9144000" cy="5143500" type="screen16x9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987"/>
    <p:restoredTop sz="96619" autoAdjust="0"/>
  </p:normalViewPr>
  <p:slideViewPr>
    <p:cSldViewPr snapToGrid="0" snapToObjects="1">
      <p:cViewPr varScale="1">
        <p:scale>
          <a:sx n="119" d="100"/>
          <a:sy n="119" d="100"/>
        </p:scale>
        <p:origin x="192" y="17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tags" Target="tags/tag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9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67AB6-DDEA-CF4E-A74B-19A554508643}" type="datetimeFigureOut">
              <a:rPr lang="en-US" smtClean="0">
                <a:latin typeface="Arial"/>
              </a:rPr>
              <a:t>9/1/25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00F83-E232-AF4B-BEC0-F9D716239A3F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52301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72DD8AEC-B96B-2C4C-86B3-8483D80B216B}" type="datetimeFigureOut">
              <a:rPr lang="en-US" smtClean="0"/>
              <a:pPr/>
              <a:t>9/1/25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4180AB40-CF9C-CB44-AF47-E5E5B00AC33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717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95" y="1184383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3" y="4802823"/>
            <a:ext cx="7493624" cy="274637"/>
          </a:xfrm>
        </p:spPr>
        <p:txBody>
          <a:bodyPr/>
          <a:lstStyle/>
          <a:p>
            <a:pPr algn="l"/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5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339" y="3918225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5" y="4802823"/>
            <a:ext cx="3347357" cy="274637"/>
          </a:xfrm>
        </p:spPr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8530529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7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7" y="3488175"/>
            <a:ext cx="8530530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4" y="4219782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9" y="4802823"/>
            <a:ext cx="5605046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41DE1EE-7D9E-4356-A17B-AC39B24D4A0F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92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0EE1217-8810-43A4-A260-F7B93C1E246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1BC07D9-38D2-4D21-BB9F-4FB482252065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7A7201D-60A7-477E-96B4-3973BB7451F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6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F441585-8FA9-4EA2-85A4-83043578477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395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3F1A4B9-1F13-48F5-BF93-72CC0A0DFA2C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D4C51F1-096E-4A7D-AF59-49489967A51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0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8D18AFA9-C13B-4E9A-A7F0-C8B20BE5ADB5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AFA6CE4-1B8F-4F53-8FC9-315CD27786F8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1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lac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C96F477-1573-42B6-8124-1C5E2CCC0FD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55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igh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9160BD7-9A24-46F0-B588-84A24FB50E4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32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0C67-0F6D-4A63-8E63-273C3D00EFA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9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D7FBDF3-D11F-4F70-8F9F-651D17F84E1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17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ra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18357F6-0510-479E-9626-ED401C3312B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90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867B-514B-4F27-82D6-3C76A0181DB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724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A7BB-C868-4082-9DAC-3FE8412AC8FD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053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356" y="200823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A090E-3817-4555-91F3-FAFE914C4AA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967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39" y="1184382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1" y="4802823"/>
            <a:ext cx="7493625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955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534" y="3921596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4" y="4802823"/>
            <a:ext cx="3347357" cy="274637"/>
          </a:xfrm>
        </p:spPr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03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7139042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9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6" y="3488175"/>
            <a:ext cx="7139043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6" y="4219781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8" y="4802823"/>
            <a:ext cx="5605049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921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C27A7D9-79A5-4F31-811A-2700B483370C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C68ADBD-3616-4318-B5FF-7C1BB362CA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915323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DFFDBDF-FD53-4339-9B2B-8D4083A87E6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75C533D-D968-4A70-91E2-44C7FEDAA0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4167874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F51E6BA-1B59-444E-9924-1C6BFE86556B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DDD08E-B43C-483A-B1DD-9BEB0BDDDD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4316584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AEFA50C-A13C-4DCE-AFB3-2B7442276FB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20F9084-C4B8-47CC-A340-731237DBD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359573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287370-5FF0-4902-B346-9505C44AD782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53CE28F-B0E6-4C63-A7B8-EB4157A0706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2995813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813C2AF-4676-455E-83CB-EFCE637AA52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D81F743-FBF4-4AAB-BF1E-09D0097B96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7601994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2AB4888-AE87-452C-ACA0-2DD465CE82D2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6356448-7EEE-4D0D-AE32-557A239281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6882145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9C12B0F-F129-4DB1-8648-A5DD68566654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A79206F-C929-453C-B7BF-19A540401E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593124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AE7DE20-9D8E-407E-8A33-FA12941AFDC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C3E947D-4126-44FB-8EC6-F80A3BAA18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262112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Whit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CD2BB3B-355B-433D-AA8F-2232AA9A09D8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5B3F8F-DC85-41EB-9D22-D06541A0AC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1903406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Dar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53B94B2-764B-4AEE-8E86-36209B57D67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F015878-4578-4C49-BC72-FE830FC5A6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20805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3741-3649-40C7-AC1C-DC0B03113BF9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06A69-C78D-46AD-9B4E-1E66EF195C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9212782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5828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Dark Gra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7511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4141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313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200823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333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3B39-76A3-59AB-A380-799D0DF7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864A3-2E0C-EC56-1E22-9A4A0CB70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9BFB0-6AB2-C8D7-63D5-EF85241B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15229-FC27-2AB0-D8F5-C89F330BA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1E5F3-09F6-260C-104C-F3F63732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094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9B8C-1B5B-514C-F5EA-3C2A10F2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9AFA2-D772-206E-C86A-D615111D0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493A7-FD19-C0E7-39E0-0726DC80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A4AD6-BD16-7717-2AEA-8F7C671A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05546-4781-0742-607C-D51AEBEA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832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028F-C16B-9E86-E01A-38C348B9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D114E-09B2-76F7-0112-0F757701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FB327-AA53-58DE-9527-907092EE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E1F61-D057-DD68-35B1-73BAB1DD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871B5-8810-90B7-5927-2394010A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766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7CE2-CA70-4C85-4B45-1E1D70C9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341C-DC73-CD0E-2E98-2159AB3F2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DECF5-A226-DA2E-5D24-4DBB4FDC9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97E79-6F00-CA09-68B3-8625B7D7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C5CDB-82CE-8735-D4C6-5FA89621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0DFF8-1AF0-9D58-A2D9-532E3E42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675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1C2A-E0A7-E570-E75E-AADC6B114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9D58D-B021-4626-A536-EBB7A1FB7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8C278-4545-CB71-9562-4ED50E819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702CF-C755-6845-9E7B-CBD7B54EE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754-B0F8-66BB-665F-3DC66B241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2EB692-4DEC-B096-65FD-D9FB8EC8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9E06B-476D-C255-1D87-6F2C9028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765B2B-D114-4895-D8E8-9F1F06F8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806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20C8-BBDD-0D4B-B5DB-432D4888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36DD3-D48B-90C8-8F92-4DE3B101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A2494-8219-08D9-AAB7-950A6939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353EC-7878-6FB9-06A6-781396CB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464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54580-941E-0DA3-C65D-4C828EA3E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48271-AFB0-188B-B389-4A938E800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BA14A-7ACF-1731-3D99-DCE54846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375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DABB-D241-9DB5-0E55-7FAECF83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0472A-87D5-7628-0F55-9AEC1EFB2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0136C-5E0A-4982-CA61-61354F50D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16CD9-3FFA-82C4-7ECA-4CC1E59D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28C4F-3F54-3272-B100-B63C7464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AA11D-FAA8-BAAF-F012-8559B461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266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46FEB-DE91-5C24-F873-7A21DF25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48D0F-363A-727F-7B47-85DEDB52B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79FCE-CF45-4186-0585-49BB32A5F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8173B-BA3B-E602-3F44-808E5F3F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6F723-B9D4-DFC9-737A-489151A2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02815-4737-3DE6-068D-19AC56C80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135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5B33-256E-1BCC-6B2A-ABA70E52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DB7FE-145E-D7EA-612F-F76E1B7A1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87C1E-B821-2A98-BCB2-E95D8AC3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C7841-0F23-FB4E-BF56-9A495FF4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2A1EE-0610-C8CC-763E-7023991B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289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9D9042-A847-FEFB-00F3-CBE6F60C0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36CD1-DE07-71C7-3BE2-5E3953E75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3896D-720C-FA36-1764-6B0AA777A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27FE-C992-03CB-C824-AA45AACE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30D5B-B03B-B64B-87B8-3D1D3BFD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937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0.xml"/><Relationship Id="rId2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1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3999" y="4802823"/>
            <a:ext cx="1422401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FB8DC75-F238-4FEA-A196-95F443A65C8E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1" y="4802823"/>
            <a:ext cx="5791199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67600" y="4802823"/>
            <a:ext cx="58613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911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1" r:id="rId5"/>
    <p:sldLayoutId id="2147483662" r:id="rId6"/>
    <p:sldLayoutId id="2147483664" r:id="rId7"/>
    <p:sldLayoutId id="2147483663" r:id="rId8"/>
    <p:sldLayoutId id="2147483669" r:id="rId9"/>
    <p:sldLayoutId id="2147483670" r:id="rId10"/>
    <p:sldLayoutId id="2147483671" r:id="rId11"/>
    <p:sldLayoutId id="2147483672" r:id="rId12"/>
    <p:sldLayoutId id="2147483653" r:id="rId13"/>
    <p:sldLayoutId id="2147483654" r:id="rId14"/>
    <p:sldLayoutId id="2147483656" r:id="rId15"/>
    <p:sldLayoutId id="2147483657" r:id="rId16"/>
    <p:sldLayoutId id="2147483658" r:id="rId17"/>
    <p:sldLayoutId id="2147483659" r:id="rId18"/>
    <p:sldLayoutId id="2147483660" r:id="rId19"/>
    <p:sldLayoutId id="2147483693" r:id="rId2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4000" y="4802823"/>
            <a:ext cx="142240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4802823"/>
            <a:ext cx="577596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52360" y="4802823"/>
            <a:ext cx="60137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7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4" r:id="rId2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4F3BF-97B7-EC27-2340-24FA9B77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764DC-EBE9-EB9F-3BB0-7B8BF4B2D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A5B2-2FE3-D455-B515-D22708855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8F9C-E8C1-EBB9-E828-BE8AA7556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61C82-B4D0-EE5A-115C-03FD70D40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Update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Enabling AI-Driven Climate Analysis</a:t>
            </a:r>
          </a:p>
          <a:p>
            <a:r>
              <a:t>with NASA's NEX-GDDP-CMIP6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RCMES-MCP?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An MCP (Model Context Protocol) server that exposes NASA's climate analysis tools to AI agents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Provides direct access to the NEX-GDDP-CMIP6 dataset — 38 TB of downscaled global climate projections at 0.25° resolution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Enables conversational climate analysis: users ask questions in natural language, AI executes the science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Built on NASA JPL's Regional Climate Model Evaluation System (RCMES) heritage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No data downloads, no coding required — AI handles data access, processing, analysis, and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Data: NEX-GDDP-CMIP6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38 TB of bias-corrected, downscaled CMIP6 climate projections hosted on AWS Open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0.25° resolution (~25 km), daily timestep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Global coverage, 1950–2100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35 CMIP6 climate models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Historical + 4 SSP scenarios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Accessed via S3 in Zarr format — no downloads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300" b="1">
                <a:solidFill>
                  <a:srgbClr val="00325B"/>
                </a:solidFill>
                <a:latin typeface="Arial"/>
              </a:defRPr>
            </a:pPr>
            <a:r>
              <a:t>9 Climate Variables: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tas / tasmax / tasmin — Temperature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pr — Precipitation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hurs / huss — Humidity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sfcWind — Surface wind speed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rsds / rlds — Radiation (SW &amp; LW)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32+ Climate Analysis Tools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Data Access — Load climate data by model, variable, scenario; region/country selection; dataset listing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Processing — Temporal &amp; spatial subsetting, regridding, unit conversion, anomaly calculation, country masking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Statistical Analysis — Climatology, trend analysis with significance testing, bias, RMSE, correlation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Extreme Indices — 22 ETCCDI indices (temperature &amp; precipitation extremes), heatwave &amp; drought analysis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Model Evaluation — Multi-model comparison, Taylor diagrams, bias maps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Visualization — Spatial maps, time series, comparison plots, histograms, country-specific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User asks a climate question in natural language (e.g., "What is the heatwave trend in California?")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AI agent selects and chains appropriate tools via the MCP protocol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Tools access NEX-GDDP-CMIP6 data directly from AWS S3 — no downloads needed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Analysis engine (xarray, Dask, xclim, SciPy) processes the data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Results returned as statistics, maps, time series plots, or derived datasets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Chainable operations: each tool returns a dataset_id for multi-step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" y="4160520"/>
            <a:ext cx="1508760" cy="411480"/>
          </a:xfrm>
          <a:prstGeom prst="roundRect">
            <a:avLst/>
          </a:prstGeom>
          <a:solidFill>
            <a:srgbClr val="007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User / AI Agent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89676" y="4293108"/>
            <a:ext cx="144592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44268" y="4160520"/>
            <a:ext cx="1508760" cy="411480"/>
          </a:xfrm>
          <a:prstGeom prst="roundRect">
            <a:avLst/>
          </a:prstGeom>
          <a:solidFill>
            <a:srgbClr val="00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MCP Server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63028" y="4293108"/>
            <a:ext cx="144592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7620" y="4160520"/>
            <a:ext cx="1508760" cy="411480"/>
          </a:xfrm>
          <a:prstGeom prst="roundRect">
            <a:avLst/>
          </a:prstGeom>
          <a:solidFill>
            <a:srgbClr val="237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AWS S3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36380" y="4293108"/>
            <a:ext cx="144592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90972" y="4160520"/>
            <a:ext cx="150876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Analysis Engine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09732" y="4293108"/>
            <a:ext cx="144592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64324" y="4160520"/>
            <a:ext cx="150876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Heatwave Trend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"What is the heatwave trend in California under the high-emissions scenario?"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1. AI loads data: load_climate_data(tasmax, ACCESS-CM2, ssp585, California, 2015–2100)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2. AI analyzes heatwaves: analyze_heatwaves(dataset_id, threshold_percentile=90)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3. AI computes trend: calculate_trend(heatwave_id) → significant warming trend with p-value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4. AI visualizes: generate_timeseries_plot(dataset_id, show_trend=True) → plot returned to user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 i="1">
                <a:solidFill>
                  <a:srgbClr val="007DBA"/>
                </a:solidFill>
                <a:latin typeface="Arial"/>
              </a:defRPr>
            </a:pPr>
            <a:r>
              <a:t>All steps executed automatically — the user only asks the question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00325B"/>
                </a:solidFill>
                <a:latin typeface="Arial"/>
              </a:defRPr>
            </a:pPr>
            <a:r>
              <a:t>Accomplishments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32+ MCP tools: full climate analysis pipeline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Operational 38 TB data access via AWS S3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22 ETCCDI extreme climate indices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Interactive web UI (React + FastAPI)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Multiple deployment modes (MCP, Web, API, Docker)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Session management with chainable operations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Country-level masking &amp; geographic selection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00325B"/>
                </a:solidFill>
                <a:latin typeface="Arial"/>
              </a:defRPr>
            </a:pPr>
            <a:r>
              <a:t>Technology Stack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Core: </a:t>
            </a:r>
            <a:r>
              <a:rPr sz="1100">
                <a:solidFill>
                  <a:srgbClr val="333333"/>
                </a:solidFill>
                <a:latin typeface="Arial"/>
              </a:rPr>
              <a:t>Python 3.10+, xarray, Dask, zarr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Climate: </a:t>
            </a:r>
            <a:r>
              <a:rPr sz="1100">
                <a:solidFill>
                  <a:srgbClr val="333333"/>
                </a:solidFill>
                <a:latin typeface="Arial"/>
              </a:rPr>
              <a:t>xclim, SciPy, NetCDF4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Geospatial: </a:t>
            </a:r>
            <a:r>
              <a:rPr sz="1100">
                <a:solidFill>
                  <a:srgbClr val="333333"/>
                </a:solidFill>
                <a:latin typeface="Arial"/>
              </a:rPr>
              <a:t>Shapely, GeoPandas, Cartopy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Server: </a:t>
            </a:r>
            <a:r>
              <a:rPr sz="1100">
                <a:solidFill>
                  <a:srgbClr val="333333"/>
                </a:solidFill>
                <a:latin typeface="Arial"/>
              </a:rPr>
              <a:t>FastMCP, FastAPI, Uvicorn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Frontend: </a:t>
            </a:r>
            <a:r>
              <a:rPr sz="1100">
                <a:solidFill>
                  <a:srgbClr val="333333"/>
                </a:solidFill>
                <a:latin typeface="Arial"/>
              </a:rPr>
              <a:t>React, TypeScript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Data: </a:t>
            </a:r>
            <a:r>
              <a:rPr sz="1100">
                <a:solidFill>
                  <a:srgbClr val="333333"/>
                </a:solidFill>
                <a:latin typeface="Arial"/>
              </a:rPr>
              <a:t>AWS S3, NEX-GDDP-CMIP6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AI: </a:t>
            </a:r>
            <a:r>
              <a:rPr sz="1100">
                <a:solidFill>
                  <a:srgbClr val="333333"/>
                </a:solidFill>
                <a:latin typeface="Arial"/>
              </a:rPr>
              <a:t>MCP Protocol, Azure OpenAI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Forward &amp; Continued Support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00325B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Expand to additional NASA datasets (MERRA-2, ECCO, GLDAS)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Model evaluation with observational datasets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NASA Earthdata integration for authenticated access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Multi-model ensemble analysis &amp; weighting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Community tool for broader climate science use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Reproducible climate assessments for policy support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00325B"/>
                </a:solidFill>
                <a:latin typeface="Arial"/>
              </a:defRPr>
            </a:pPr>
            <a:r>
              <a:t>What Continued Support Enables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Democratize access to NASA climate data for non-experts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Accelerate climate research by removing data engineering bottlenecks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Enable rapid AI-assisted climate impact assessments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Lower the barrier to entry across disciplines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Position NASA JPL at the forefront of AI-enabled science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Support decision-makers with actionable climate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Roadmap: Years 2-3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Next Steps for Expanding Capability, Community, and Impact (2027-2028)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rPr b="1"/>
              <a:t>Year 2 (FY2027)</a:t>
            </a:r>
          </a:p>
          <a:p>
            <a:pPr/>
            <a:r>
              <a:t>Integrate MERRA-2, ECCO &amp; GLDAS observational datasets</a:t>
            </a:r>
          </a:p>
          <a:p>
            <a:pPr/>
            <a:r>
              <a:t>Model evaluation framework: obs vs. CMIP6 bias/skill scoring</a:t>
            </a:r>
          </a:p>
          <a:p>
            <a:pPr/>
            <a:r>
              <a:t>Multi-model ensemble analysis with model weighting</a:t>
            </a:r>
          </a:p>
          <a:p>
            <a:pPr/>
            <a:r>
              <a:t>NASA Earthdata authentication &amp; access integration</a:t>
            </a:r>
          </a:p>
          <a:p>
            <a:pPr/>
            <a:r>
              <a:t>Automated reproducible report generation (PDF/HTML)</a:t>
            </a:r>
          </a:p>
          <a:p>
            <a:pPr/>
            <a:r>
              <a:t>Agent-to-Agent (A2A) protocol support for multi-agent workflows</a:t>
            </a:r>
          </a:p>
          <a:p>
            <a:pPr/>
            <a:r>
              <a:t>Performance optimization: Dask distributed scheduling at scale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rPr b="1"/>
              <a:t>Year 3 (FY2028)</a:t>
            </a:r>
          </a:p>
          <a:p>
            <a:pPr/>
            <a:r>
              <a:t>Expand to full CMIP7 dataset support when available</a:t>
            </a:r>
          </a:p>
          <a:p>
            <a:pPr/>
            <a:r>
              <a:t>Community plugin architecture for user-contributed tools</a:t>
            </a:r>
          </a:p>
          <a:p>
            <a:pPr/>
            <a:r>
              <a:t>Uncertainty quantification &amp; confidence intervals in all outputs</a:t>
            </a:r>
          </a:p>
          <a:p>
            <a:pPr/>
            <a:r>
              <a:t>Regional downscaling pipelines (LOCA2, STAR-ESDM)</a:t>
            </a:r>
          </a:p>
          <a:p>
            <a:pPr/>
            <a:r>
              <a:t>Policy-ready climate risk assessment workflows</a:t>
            </a:r>
          </a:p>
          <a:p>
            <a:pPr/>
            <a:r>
              <a:t>Integration with Jupyter/CoPilot ecosystems</a:t>
            </a:r>
          </a:p>
          <a:p>
            <a:pPr/>
            <a:r>
              <a:t>Multi-language support for global accessibility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Enhancements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7 Optimizations for Fast Data Loading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/>
            <a:r>
              <a:rPr b="1"/>
              <a:t>Data Access Optimizations</a:t>
            </a:r>
          </a:p>
          <a:p>
            <a:pPr lvl="1"/>
            <a:r>
              <a:t>Local Zarr Store: RCMES_LOCAL_DATA_DIR bypasses S3 entirely for pre-downloaded data</a:t>
            </a:r>
          </a:p>
          <a:p>
            <a:pPr lvl="1"/>
            <a:r>
              <a:t>Kerchunk Reference Caching: Parquet metadata files cached locally, eliminating 1–5s S3 round-trip per query</a:t>
            </a:r>
          </a:p>
          <a:p>
            <a:pPr lvl="1"/>
            <a:r>
              <a:t>Optimized Dask Chunking: Explicit chunk sizes (time=365, lat=100, lon=100) for better parallelism</a:t>
            </a:r>
          </a:p>
          <a:p>
            <a:pPr lvl="1"/>
            <a:r>
              <a:t>Connection Pool Tuning: 50 concurrent S3 connections (up from 25) with 120s read timeout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/>
            <a:r>
              <a:rPr b="1"/>
              <a:t>Caching &amp; Tooling</a:t>
            </a:r>
          </a:p>
          <a:p>
            <a:pPr lvl="1"/>
            <a:r>
              <a:t>Compressed Disk Cache: zlib-compressed NetCDF files reduce cache size by 60–70%</a:t>
            </a:r>
          </a:p>
          <a:p>
            <a:pPr lvl="1"/>
            <a:r>
              <a:t>Pre-computed Statistics: mean, std, min, max cached alongside data subsets for instant retrieval</a:t>
            </a:r>
          </a:p>
          <a:p>
            <a:pPr lvl="1"/>
            <a:r>
              <a:t>Warmup CLI (rcmes-warmup): Pre-downloads popular model/scenario/region combos</a:t>
            </a:r>
          </a:p>
          <a:p>
            <a:pPr lvl="1"/>
            <a:r>
              <a:t> — 5 built-in regions: CONUS, California, Europe, South Asia, East Africa</a:t>
            </a:r>
          </a:p>
          <a:p>
            <a:pPr lvl="1"/>
            <a:r>
              <a:t> — Supports --dry-run, --cache-refs-only, --all-models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522&quot;&gt;&lt;object type=&quot;3&quot; unique_id=&quot;10523&quot;&gt;&lt;property id=&quot;20148&quot; value=&quot;5&quot;/&gt;&lt;property id=&quot;20300&quot; value=&quot;Slide 1&quot;/&gt;&lt;property id=&quot;20307&quot; value=&quot;277&quot;/&gt;&lt;/object&gt;&lt;object type=&quot;3&quot; unique_id=&quot;10524&quot;&gt;&lt;property id=&quot;20148&quot; value=&quot;5&quot;/&gt;&lt;property id=&quot;20300&quot; value=&quot;Slide 2&quot;/&gt;&lt;property id=&quot;20307&quot; value=&quot;281&quot;/&gt;&lt;/object&gt;&lt;object type=&quot;3&quot; unique_id=&quot;10525&quot;&gt;&lt;property id=&quot;20148&quot; value=&quot;5&quot;/&gt;&lt;property id=&quot;20300&quot; value=&quot;Slide 3&quot;/&gt;&lt;property id=&quot;20307&quot; value=&quot;280&quot;/&gt;&lt;/object&gt;&lt;object type=&quot;3&quot; unique_id=&quot;10526&quot;&gt;&lt;property id=&quot;20148&quot; value=&quot;5&quot;/&gt;&lt;property id=&quot;20300&quot; value=&quot;Slide 4&quot;/&gt;&lt;property id=&quot;20307&quot; value=&quot;278&quot;/&gt;&lt;/object&gt;&lt;/object&gt;&lt;object type=&quot;8&quot; unique_id=&quot;10532&quot;&gt;&lt;/object&gt;&lt;/object&gt;&lt;/database&gt;"/>
  <p:tag name="MMPROD_NEXTUNIQUEID" val="10010"/>
  <p:tag name="SECTOMILLISECCONVERTED" val="1"/>
</p:tagLst>
</file>

<file path=ppt/theme/theme1.xml><?xml version="1.0" encoding="utf-8"?>
<a:theme xmlns:a="http://schemas.openxmlformats.org/drawingml/2006/main" name="NASAjpl-White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bg1">
              <a:lumMod val="65000"/>
            </a:schemeClr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ASAjpl-Black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2"/>
          </a:solidFill>
          <a:headEnd type="arrow"/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13125</TotalTime>
  <Words>417</Words>
  <Application>Microsoft Macintosh PowerPoint</Application>
  <PresentationFormat>On-screen Show (16:9)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NASAjpl-WhiteTheme-16x9-vA6</vt:lpstr>
      <vt:lpstr>NASAjpl-BlackTheme-16x9-vA6</vt:lpstr>
      <vt:lpstr>Office Theme</vt:lpstr>
      <vt:lpstr>PowerPoint Presentation</vt:lpstr>
      <vt:lpstr>PowerPoint Presentation</vt:lpstr>
      <vt:lpstr>PowerPoint Presentation</vt:lpstr>
      <vt:lpstr>PowerPoint Presentation</vt:lpstr>
      <vt:lpstr>Science Model Dashboard Comprehensive Research Impact Assessment Across Earth Science Models</vt:lpstr>
      <vt:lpstr>Science Model Dashboard</vt:lpstr>
      <vt:lpstr>LLM-Powered Citation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Carolyn M Stolze</dc:creator>
  <cp:lastModifiedBy>Kyongsik Yun</cp:lastModifiedBy>
  <cp:revision>126</cp:revision>
  <dcterms:created xsi:type="dcterms:W3CDTF">2016-09-08T21:41:17Z</dcterms:created>
  <dcterms:modified xsi:type="dcterms:W3CDTF">2025-09-01T23:27:43Z</dcterms:modified>
</cp:coreProperties>
</file>