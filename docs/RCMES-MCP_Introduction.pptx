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73" r:id="rId2"/>
    <p:sldMasterId id="2147483695" r:id="rId3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9144000" cy="5143500" type="screen16x9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987"/>
    <p:restoredTop sz="96619" autoAdjust="0"/>
  </p:normalViewPr>
  <p:slideViewPr>
    <p:cSldViewPr snapToGrid="0" snapToObjects="1">
      <p:cViewPr varScale="1">
        <p:scale>
          <a:sx n="119" d="100"/>
          <a:sy n="119" d="100"/>
        </p:scale>
        <p:origin x="192" y="17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tags" Target="tags/tag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67AB6-DDEA-CF4E-A74B-19A554508643}" type="datetimeFigureOut">
              <a:rPr lang="en-US" smtClean="0">
                <a:latin typeface="Arial"/>
              </a:rPr>
              <a:t>9/1/25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00F83-E232-AF4B-BEC0-F9D716239A3F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52301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/>
              </a:defRPr>
            </a:lvl1pPr>
          </a:lstStyle>
          <a:p>
            <a:fld id="{72DD8AEC-B96B-2C4C-86B3-8483D80B216B}" type="datetimeFigureOut">
              <a:rPr lang="en-US" smtClean="0"/>
              <a:pPr/>
              <a:t>9/1/25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/>
              </a:defRPr>
            </a:lvl1pPr>
          </a:lstStyle>
          <a:p>
            <a:fld id="{4180AB40-CF9C-CB44-AF47-E5E5B00AC33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5717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95" y="1184383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3" y="4802823"/>
            <a:ext cx="7493624" cy="274637"/>
          </a:xfrm>
        </p:spPr>
        <p:txBody>
          <a:bodyPr/>
          <a:lstStyle/>
          <a:p>
            <a:pPr algn="l"/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55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339" y="3918225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5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8530529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7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7" y="3488175"/>
            <a:ext cx="8530530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4" y="4219782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9" y="4802823"/>
            <a:ext cx="5605046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41DE1EE-7D9E-4356-A17B-AC39B24D4A0F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92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0EE1217-8810-43A4-A260-F7B93C1E246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1BC07D9-38D2-4D21-BB9F-4FB48225206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7A7201D-60A7-477E-96B4-3973BB7451F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6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F441585-8FA9-4EA2-85A4-83043578477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395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3F1A4B9-1F13-48F5-BF93-72CC0A0DFA2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27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1D4C51F1-096E-4A7D-AF59-49489967A51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70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D18AFA9-C13B-4E9A-A7F0-C8B20BE5ADB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58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AFA6CE4-1B8F-4F53-8FC9-315CD27786F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Blac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C96F477-1573-42B6-8124-1C5E2CCC0FD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455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Light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9160BD7-9A24-46F0-B588-84A24FB50E4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832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0C67-0F6D-4A63-8E63-273C3D00EFA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19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D7FBDF3-D11F-4F70-8F9F-651D17F84E1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1171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Gray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18357F6-0510-479E-9626-ED401C3312B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902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A867B-514B-4F27-82D6-3C76A0181DB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7249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6A7BB-C868-4082-9DAC-3FE8412AC8FD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053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356" y="200823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A090E-3817-4555-91F3-FAFE914C4AA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9670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39" y="1184382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1" y="4802823"/>
            <a:ext cx="7493625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9551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534" y="3921596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4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03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7139042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9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6" y="3488175"/>
            <a:ext cx="7139043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6" y="4219781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8" y="4802823"/>
            <a:ext cx="5605049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292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C27A7D9-79A5-4F31-811A-2700B483370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C68ADBD-3616-4318-B5FF-7C1BB362CA5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915323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DFFDBDF-FD53-4339-9B2B-8D4083A87E6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75C533D-D968-4A70-91E2-44C7FEDAA0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4167874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FF51E6BA-1B59-444E-9924-1C6BFE86556B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9DDD08E-B43C-483A-B1DD-9BEB0BDDDDA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4316584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AEFA50C-A13C-4DCE-AFB3-2B7442276FB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20F9084-C4B8-47CC-A340-731237DBDB5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359573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BA287370-5FF0-4902-B346-9505C44AD78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D53CE28F-B0E6-4C63-A7B8-EB4157A0706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2995813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813C2AF-4676-455E-83CB-EFCE637AA52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D81F743-FBF4-4AAB-BF1E-09D0097B96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7601994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22AB4888-AE87-452C-ACA0-2DD465CE82D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16356448-7EEE-4D0D-AE32-557A239281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6882145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A9C12B0F-F129-4DB1-8648-A5DD68566654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A79206F-C929-453C-B7BF-19A540401EF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59312417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AE7DE20-9D8E-407E-8A33-FA12941AFDC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7C3E947D-4126-44FB-8EC6-F80A3BAA18D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2621129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White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CD2BB3B-355B-433D-AA8F-2232AA9A09D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F45B3F8F-DC85-41EB-9D22-D06541A0ACD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19034064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Dar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53B94B2-764B-4AEE-8E86-36209B57D67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F015878-4578-4C49-BC72-FE830FC5A6D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2080537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3741-3649-40C7-AC1C-DC0B03113BF9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06A69-C78D-46AD-9B4E-1E66EF195C5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9212782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25828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 Gray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7511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4141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7313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200823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2333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B39-76A3-59AB-A380-799D0DF70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1864A3-2E0C-EC56-1E22-9A4A0CB70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9BFB0-6AB2-C8D7-63D5-EF85241B2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15229-FC27-2AB0-D8F5-C89F330BA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E1E5F3-09F6-260C-104C-F3F63732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0944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79B8C-1B5B-514C-F5EA-3C2A10F28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9AFA2-D772-206E-C86A-D615111D0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93A7-FD19-C0E7-39E0-0726DC80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A4AD6-BD16-7717-2AEA-8F7C671AB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05546-4781-0742-607C-D51AEBEA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8325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28F-C16B-9E86-E01A-38C348B9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7D114E-09B2-76F7-0112-0F7577013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FB327-AA53-58DE-9527-907092EE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E1F61-D057-DD68-35B1-73BAB1DD1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871B5-8810-90B7-5927-2394010A9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766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17CE2-CA70-4C85-4B45-1E1D70C9E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1341C-DC73-CD0E-2E98-2159AB3F2A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DECF5-A226-DA2E-5D24-4DBB4FDC9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97E79-6F00-CA09-68B3-8625B7D7B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8C5CDB-82CE-8735-D4C6-5FA89621E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0DFF8-1AF0-9D58-A2D9-532E3E42A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675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1C2A-E0A7-E570-E75E-AADC6B114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69D58D-B021-4626-A536-EBB7A1FB7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48C278-4545-CB71-9562-4ED50E819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702CF-C755-6845-9E7B-CBD7B54EE4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24754-B0F8-66BB-665F-3DC66B241E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2EB692-4DEC-B096-65FD-D9FB8EC8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F9E06B-476D-C255-1D87-6F2C90281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765B2B-D114-4895-D8E8-9F1F06F8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7806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20C8-BBDD-0D4B-B5DB-432D4888F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736DD3-D48B-90C8-8F92-4DE3B101D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4A2494-8219-08D9-AAB7-950A6939C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353EC-7878-6FB9-06A6-781396CB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464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354580-941E-0DA3-C65D-4C828EA3E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48271-AFB0-188B-B389-4A938E800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BA14A-7ACF-1731-3D99-DCE54846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7375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DABB-D241-9DB5-0E55-7FAECF832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0472A-87D5-7628-0F55-9AEC1EFB2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0136C-5E0A-4982-CA61-61354F50D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16CD9-3FFA-82C4-7ECA-4CC1E59D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28C4F-3F54-3272-B100-B63C7464D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AA11D-FAA8-BAAF-F012-8559B4616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266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46FEB-DE91-5C24-F873-7A21DF257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48D0F-363A-727F-7B47-85DEDB52B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79FCE-CF45-4186-0585-49BB32A5F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8173B-BA3B-E602-3F44-808E5F3F6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6F723-B9D4-DFC9-737A-489151A2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02815-4737-3DE6-068D-19AC56C80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1356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5B33-256E-1BCC-6B2A-ABA70E52C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CDB7FE-145E-D7EA-612F-F76E1B7A1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7C1E-B821-2A98-BCB2-E95D8AC3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C7841-0F23-FB4E-BF56-9A495FF49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2A1EE-0610-C8CC-763E-7023991B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12894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9D9042-A847-FEFB-00F3-CBE6F60C0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336CD1-DE07-71C7-3BE2-5E3953E75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3896D-720C-FA36-1764-6B0AA777A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B27FE-C992-03CB-C824-AA45AACEE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30D5B-B03B-B64B-87B8-3D1D3BFDC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937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0.xml"/><Relationship Id="rId2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1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3999" y="4802823"/>
            <a:ext cx="1422401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FB8DC75-F238-4FEA-A196-95F443A65C8E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1" y="4802823"/>
            <a:ext cx="5791199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67600" y="4802823"/>
            <a:ext cx="58613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91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1" r:id="rId5"/>
    <p:sldLayoutId id="2147483662" r:id="rId6"/>
    <p:sldLayoutId id="2147483664" r:id="rId7"/>
    <p:sldLayoutId id="2147483663" r:id="rId8"/>
    <p:sldLayoutId id="2147483669" r:id="rId9"/>
    <p:sldLayoutId id="2147483670" r:id="rId10"/>
    <p:sldLayoutId id="2147483671" r:id="rId11"/>
    <p:sldLayoutId id="2147483672" r:id="rId12"/>
    <p:sldLayoutId id="2147483653" r:id="rId13"/>
    <p:sldLayoutId id="2147483654" r:id="rId14"/>
    <p:sldLayoutId id="2147483656" r:id="rId15"/>
    <p:sldLayoutId id="2147483657" r:id="rId16"/>
    <p:sldLayoutId id="2147483658" r:id="rId17"/>
    <p:sldLayoutId id="2147483659" r:id="rId18"/>
    <p:sldLayoutId id="2147483660" r:id="rId19"/>
    <p:sldLayoutId id="2147483693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4000" y="4802823"/>
            <a:ext cx="142240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0" y="4802823"/>
            <a:ext cx="577596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52360" y="4802823"/>
            <a:ext cx="60137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072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4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4F3BF-97B7-EC27-2340-24FA9B77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764DC-EBE9-EB9F-3BB0-7B8BF4B2DF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A5B2-2FE3-D455-B515-D227088555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98F9C-E8C1-EBB9-E828-BE8AA7556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61C82-B4D0-EE5A-115C-03FD70D40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Update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Enabling AI-Driven Climate Analysis</a:t>
            </a:r>
          </a:p>
          <a:p>
            <a:r>
              <a:t>with NASA's NEX-GDDP-CMIP6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RCMES-MCP?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An MCP (Model Context Protocol) server that exposes NASA's climate analysis tools to AI agents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Provides direct access to the NEX-GDDP-CMIP6 dataset — 38 TB of downscaled global climate projections at 0.25° resolution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Enables conversational climate analysis: users ask questions in natural language, AI executes the science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Built on NASA JPL's Regional Climate Model Evaluation System (RCMES) heritage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No data downloads, no coding required — AI handles data access, processing, analysis, and visualization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Data: NEX-GDDP-CMIP6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 TB of bias-corrected, downscaled CMIP6 climate projections hosted on AWS Open Data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0.25° resolution (~25 km), daily timestep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Global coverage, 1950–2100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35 CMIP6 climate models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Historical + 4 SSP scenarios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Accessed via S3 in Zarr format — no downloads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300" b="1">
                <a:solidFill>
                  <a:srgbClr val="00325B"/>
                </a:solidFill>
                <a:latin typeface="Arial"/>
              </a:defRPr>
            </a:pPr>
            <a:r>
              <a:t>9 Climate Variables: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tas / tasmax / tasmin — Temperature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pr — Precipitation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hurs / huss — Humidity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sfcWind — Surface wind speed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rsds / rlds — Radiation (SW &amp; LW)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47+ Climate Analysis Tools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Data Access — Load climate data by model, variable, scenario; region/country selection; multi-model ensemble loading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Processing — Temporal &amp; spatial subsetting, regridding, unit conversion, anomaly &amp; standardized-anomaly, country masking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Statistical Analysis — Climatology, trend with significance, bias, RMSE, correlation, EOF/PCA decomposition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Spatiotemporal Detection — 3D connected-component extreme-event cataloguing, time of emergence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Ensemble &amp; Scenario — Multi-model statistics with IPCC-style agreement maps, scenario-comparison fan charts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Ensemble Weighting — Skill / independence / combined weighting (Knutti 2017) validated against NCEP reanalysis observations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Extreme Indices — 22 ETCCDI indices, heatwave &amp; drought analysis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Visualization — Spatial maps, time series, Hovmöller diagrams, fan charts, ensemble spread plots, Taylor diagrams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User asks a climate question in natural language (e.g., "What is the heatwave trend in California?")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AI agent selects and chains appropriate tools via the MCP protocol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Tools access NEX-GDDP-CMIP6 data directly from AWS S3 — no downloads needed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Analysis engine (xarray, Dask, xclim, SciPy) processes the data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Results returned as statistics, maps, time series plots, or derived datasets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Chainable operations: each tool returns a dataset_id for multi-step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" y="4160520"/>
            <a:ext cx="1508760" cy="411480"/>
          </a:xfrm>
          <a:prstGeom prst="roundRect">
            <a:avLst/>
          </a:prstGeom>
          <a:solidFill>
            <a:srgbClr val="007D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User / AI Agent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989676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44268" y="4160520"/>
            <a:ext cx="1508760" cy="411480"/>
          </a:xfrm>
          <a:prstGeom prst="roundRect">
            <a:avLst/>
          </a:prstGeom>
          <a:solidFill>
            <a:srgbClr val="003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MCP Server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63028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17620" y="4160520"/>
            <a:ext cx="1508760" cy="411480"/>
          </a:xfrm>
          <a:prstGeom prst="roundRect">
            <a:avLst/>
          </a:prstGeom>
          <a:solidFill>
            <a:srgbClr val="237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AWS S3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336380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90972" y="4160520"/>
            <a:ext cx="150876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Analysis Engine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09732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64324" y="4160520"/>
            <a:ext cx="150876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Example: Heatwave Trend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"What is the heatwave trend in California under the high-emissions scenario?"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1. AI loads data: load_climate_data(tasmax, ACCESS-CM2, ssp585, California, 2015–2100)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2. AI analyzes heatwaves: analyze_heatwaves(dataset_id, threshold_percentile=90)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3. AI computes trend: calculate_trend(heatwave_id) → significant warming trend with p-value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4. AI visualizes: generate_timeseries_plot(dataset_id, show_trend=True) → plot returned to user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 i="1">
                <a:solidFill>
                  <a:srgbClr val="007DBA"/>
                </a:solidFill>
                <a:latin typeface="Arial"/>
              </a:defRPr>
            </a:pPr>
            <a:r>
              <a:t>All steps executed automatically — the user only asks the question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Spatiotemporal Analysis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Pillar 1 — Anomaly detection &amp; dominant patterns: standardized z-score anomalies, 3D connected-component extreme-event cataloguing, EOF/PCA decomposition, Hovmöller visualization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Pillar 2 — Multi-model ensembles &amp; scenario comparison: parallel multi-model loading, ensemble statistics with IPCC-style agreement maps, pairwise scenario differences, fan charts and ensemble spread plots, time-of-emergence mapping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10 new tools added to the agent toolkit — chainable through the same dataset_id pattern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Surfaces standard climate-research diagnostics that previously required custom scripting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Spatiotemporal Extreme-Event Detection</a:t>
            </a:r>
          </a:p>
        </p:txBody>
      </p:sp>
      <p:pic>
        <p:nvPicPr>
          <p:cNvPr id="4" name="Picture 3" descr="fig_anomaly_hovmol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5033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calculate_standardized_anomaly — z-scores per day-of-year (or month/season) vs a baseline window, comparable across regions and seasons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detect_extreme_events — 3D connected-component labeling on |z| &gt; N·σ; returns an event catalogue (start/end, peak σ, location, footprint, duration)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Use case: heatwave / cold-snap / wet-spell / drought hunting under SSP scenarios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generate_hovmoller — time × lat (or × lon) view that reveals propagating anomalies and persistent regimes at a glance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Dominant Variability Patterns (EOF / PCA)</a:t>
            </a:r>
          </a:p>
        </p:txBody>
      </p:sp>
      <p:pic>
        <p:nvPicPr>
          <p:cNvPr id="4" name="Picture 3" descr="fig_e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27662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calculate_eof — cosine-latitude-weighted SVD that returns the leading spatial modes plus their principal-component time series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Surfaces dominant patterns of variability (teleconnection-like dipoles, seasonal cycles, regime shifts)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Two chained dataset_ids: spatial modes (mode, lat, lon) and PCs (time, mode) — feed straight into generate_map and generate_timeseries_plot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Reports variance explained per mode and cumulative variance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Multi-Model Ensembles — Quantifying Uncertainty</a:t>
            </a:r>
          </a:p>
        </p:txBody>
      </p:sp>
      <p:pic>
        <p:nvPicPr>
          <p:cNvPr id="4" name="Picture 3" descr="fig_ensemble_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4226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load_multi_model_ensemble — parallel-loads up to 10 CMIP6 models for the same variable/scenario/region into one dataset with a model dimension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generate_ensemble_spread_plot — median + 25–75% inner band + 5–95% outer band across models over time (with optional per-model overlays)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Spread is the answer to "how much do models disagree?" — wide bands signal low confidence, tight bands signal robust signal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Cap of 10 protects RAM; pre-subset region &amp; time before loading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Ensemble Statistics &amp; Model Agreement</a:t>
            </a:r>
          </a:p>
        </p:txBody>
      </p:sp>
      <p:pic>
        <p:nvPicPr>
          <p:cNvPr id="4" name="Picture 3" descr="fig_change_an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2627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calculate_ensemble_statistics — reduces ensemble across the model dimension into ensemble mean, spread (σ), and min/max envelope dataset_ids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With a baseline window, also returns an agreement map: per-cell fraction of models agreeing with the ensemble-mean SIGN of change — IPCC stippling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Left: ensemble-mean ΔT (late-century vs baseline). Right: model agreement (0 = full disagreement, 1 = all models agree)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Standard inputs for confidence-aware climate assessments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Comparison Across SSP Pathways</a:t>
            </a:r>
          </a:p>
        </p:txBody>
      </p:sp>
      <p:pic>
        <p:nvPicPr>
          <p:cNvPr id="4" name="Picture 3" descr="fig_scenario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4226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compare_scenarios — loads the same variable/model/region across multiple SSP scenarios (max 5) and computes pairwise time-mean differences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generate_scenario_fan_chart — multi-line projection plot with shaded 5–95% bands per scenario; the canonical IPCC-style figure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Reveals when low- vs high-emission pathways diverge — central to mitigation messaging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Smoothing window option for decadal-scale signals; pairs well with generate_map on each pairwise difference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 of Emergence — When Does Climate Change Arrive?</a:t>
            </a:r>
          </a:p>
        </p:txBody>
      </p:sp>
      <p:pic>
        <p:nvPicPr>
          <p:cNvPr id="4" name="Picture 3" descr="fig_time_of_em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4105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calculate_time_of_emergence — per grid cell, the first year that the rolling-mean signal exceeds N·σ of baseline natural variability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Returns a 2D (lat, lon) map of emergence years (NaN where the signal never emerges within the window)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Tropics typically emerge first (low natural variability); high latitudes later but with larger absolute change — the colour gradient tells the story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Useful for impact-assessment timelines and adaptation planning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Ensemble Weighting — Beyond Equal Votes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Default IPCC ensemble averaging treats every model as equally credible — but CMIP6 has lots of shared lineage (e.g., CESM2 ↔ NorESM2 share atmosphere)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Four schemes implemented (Knutti et al. 2017; Brunner &amp; Knutti 2020):  (1) Equal — democratic baseline;  (2) Skill — w ∝ exp(−RMSE² / σ²) against reference observations;  (3) Independence — penalise pairs of models with low inter-model RMSE;  (4) Combined — skill × independence, AR6 operational style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load_reference_dataset → calculate_model_weights → apply_ensemble_weights → weighted projections; validate_ensemble_weighting splits time into train/test to score generalization against held-out observations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Active collaboration with Elias Massound and Arielle on ensemble calibration paper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Validating Weighting Schemes Against NCEP Reanalysis</a:t>
            </a:r>
          </a:p>
        </p:txBody>
      </p:sp>
      <p:pic>
        <p:nvPicPr>
          <p:cNvPr id="4" name="Picture 3" descr="fig_weighting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2838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validate_ensemble_weighting trains each scheme on 1980–2002 historical and scores it on the held-out 2003–2014 window against NCEP/NCAR Reanalysis 1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Left: regional-mean RMSE (lower = better); right: Pearson correlation of monthly anomalies (higher = better)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Skill-aware schemes typically beat the equal vote when one model substantially outperforms peers on the regional climatology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Honest framing: only 3 models in this demo — the methodology generalizes to the full 35-model NEX-GDDP-CMIP6 set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Weighted Future Projections by Method</a:t>
            </a:r>
          </a:p>
        </p:txBody>
      </p:sp>
      <p:pic>
        <p:nvPicPr>
          <p:cNvPr id="4" name="Picture 3" descr="fig_weightin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3986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Each colour applies a different trained weight set to the SAME SSP5-8.5 ensemble (3 models, LA basin, 2050–2099) — the spread between curves is the structural uncertainty introduced by your weighting choice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When weighting methods disagree by ~0.5 °C late-century, that's the ensemble-weighting uncertainty band you'd quote alongside model spread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Skill and combined typically tilt the projection toward the model that best reproduces observations; independence damps clustered-model influence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All four projections are saved as new dataset_ids — feed any into generate_map / calculate_trend / calculate_time_of_emergence as usual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Probabilistic Scenario Combining</a:t>
            </a:r>
          </a:p>
        </p:txBody>
      </p:sp>
      <p:pic>
        <p:nvPicPr>
          <p:cNvPr id="4" name="Picture 3" descr="fig_scenario_weighted_comb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38922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combine_scenarios_weighted — assign prior probabilities to each SSP and produce a single weighted-mean projection. Use when the question is "what's the expected warming under our best guess of which pathway society will follow?"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Dashed lines: individual SSPs (raw). Solid lines: 4 different policy weight profiles applied to the same 4-scenario set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Mitigation-aligned (Paris) puts most weight on ssp126/245; Current-policies favours ssp245/370; High-emissions risk loads ssp585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Output is a normal dataset_id — chain into generate_map / generate_timeseries_plot / detect_extreme_events to do downstream analysis on the weighted projection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Weighting Across Scenarios</a:t>
            </a:r>
          </a:p>
        </p:txBody>
      </p:sp>
      <p:pic>
        <p:nvPicPr>
          <p:cNvPr id="4" name="Picture 3" descr="fig_per_scenario_weigh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949440" cy="20699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17320"/>
            <a:ext cx="4434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Same 3-model ensemble + same historically-trained weights, applied to each SSP scenario independently — does weighting shift each scenario's projection in the same way?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If the skill-favoured model warms faster than the unweighted mean, weighted projections are higher across ALL scenarios (consistent tilt)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Useful diagnostic: lets you carry one trained weight vector through every downstream analysis — no need to re-train per scenario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Pair with combine_scenarios_weighted to first weight models within each scenario, then weight scenarios by policy probability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Accomplishments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32+ MCP tools: full climate analysis pipeline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Operational 38 TB data access via AWS S3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22 ETCCDI extreme climate indices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Interactive web UI (React + FastAPI)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Multiple deployment modes (MCP, Web, API, Docker)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Session management with chainable operations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Country-level masking &amp; geographic selection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Technology Stack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Core: </a:t>
            </a:r>
            <a:r>
              <a:rPr sz="1100">
                <a:solidFill>
                  <a:srgbClr val="333333"/>
                </a:solidFill>
                <a:latin typeface="Arial"/>
              </a:rPr>
              <a:t>Python 3.10+, xarray, Dask, zarr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Climate: </a:t>
            </a:r>
            <a:r>
              <a:rPr sz="1100">
                <a:solidFill>
                  <a:srgbClr val="333333"/>
                </a:solidFill>
                <a:latin typeface="Arial"/>
              </a:rPr>
              <a:t>xclim, SciPy, NetCDF4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Geospatial: </a:t>
            </a:r>
            <a:r>
              <a:rPr sz="1100">
                <a:solidFill>
                  <a:srgbClr val="333333"/>
                </a:solidFill>
                <a:latin typeface="Arial"/>
              </a:rPr>
              <a:t>Shapely, GeoPandas, Cartopy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Server: </a:t>
            </a:r>
            <a:r>
              <a:rPr sz="1100">
                <a:solidFill>
                  <a:srgbClr val="333333"/>
                </a:solidFill>
                <a:latin typeface="Arial"/>
              </a:rPr>
              <a:t>FastMCP, FastAPI, Uvicorn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Frontend: </a:t>
            </a:r>
            <a:r>
              <a:rPr sz="1100">
                <a:solidFill>
                  <a:srgbClr val="333333"/>
                </a:solidFill>
                <a:latin typeface="Arial"/>
              </a:rPr>
              <a:t>React, TypeScript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Data: </a:t>
            </a:r>
            <a:r>
              <a:rPr sz="1100">
                <a:solidFill>
                  <a:srgbClr val="333333"/>
                </a:solidFill>
                <a:latin typeface="Arial"/>
              </a:rPr>
              <a:t>AWS S3, NEX-GDDP-CMIP6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AI: </a:t>
            </a:r>
            <a:r>
              <a:rPr sz="1100">
                <a:solidFill>
                  <a:srgbClr val="333333"/>
                </a:solidFill>
                <a:latin typeface="Arial"/>
              </a:rPr>
              <a:t>MCP Protocol, Azure OpenAI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 Forward &amp; Continued Support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Growth Opportunities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Expand to additional NASA datasets (MERRA-2, ECCO, GLDAS)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Model evaluation with observational datasets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NASA Earthdata integration for authenticated access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Multi-model ensemble analysis &amp; weighting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Community tool for broader climate science use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Reproducible climate assessments for policy support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What Continued Support Enables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Democratize access to NASA climate data for non-experts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Accelerate climate research by removing data engineering bottlenecks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Enable rapid AI-assisted climate impact assessments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Lower the barrier to entry across disciplines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Position NASA JPL at the forefront of AI-enabled science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Support decision-makers with actionable climate intelligence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11.0&quot;&gt;&lt;object type=&quot;1&quot; unique_id=&quot;10001&quot;&gt;&lt;object type=&quot;2&quot; unique_id=&quot;10522&quot;&gt;&lt;object type=&quot;3&quot; unique_id=&quot;10523&quot;&gt;&lt;property id=&quot;20148&quot; value=&quot;5&quot;/&gt;&lt;property id=&quot;20300&quot; value=&quot;Slide 1&quot;/&gt;&lt;property id=&quot;20307&quot; value=&quot;277&quot;/&gt;&lt;/object&gt;&lt;object type=&quot;3&quot; unique_id=&quot;10524&quot;&gt;&lt;property id=&quot;20148&quot; value=&quot;5&quot;/&gt;&lt;property id=&quot;20300&quot; value=&quot;Slide 2&quot;/&gt;&lt;property id=&quot;20307&quot; value=&quot;281&quot;/&gt;&lt;/object&gt;&lt;object type=&quot;3&quot; unique_id=&quot;10525&quot;&gt;&lt;property id=&quot;20148&quot; value=&quot;5&quot;/&gt;&lt;property id=&quot;20300&quot; value=&quot;Slide 3&quot;/&gt;&lt;property id=&quot;20307&quot; value=&quot;280&quot;/&gt;&lt;/object&gt;&lt;object type=&quot;3&quot; unique_id=&quot;10526&quot;&gt;&lt;property id=&quot;20148&quot; value=&quot;5&quot;/&gt;&lt;property id=&quot;20300&quot; value=&quot;Slide 4&quot;/&gt;&lt;property id=&quot;20307&quot; value=&quot;278&quot;/&gt;&lt;/object&gt;&lt;/object&gt;&lt;object type=&quot;8&quot; unique_id=&quot;10532&quot;&gt;&lt;/object&gt;&lt;/object&gt;&lt;/database&gt;"/>
  <p:tag name="MMPROD_NEXTUNIQUEID" val="10010"/>
  <p:tag name="SECTOMILLISECCONVERTED" val="1"/>
</p:tagLst>
</file>

<file path=ppt/theme/theme1.xml><?xml version="1.0" encoding="utf-8"?>
<a:theme xmlns:a="http://schemas.openxmlformats.org/drawingml/2006/main" name="NASAjpl-White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bg1">
              <a:lumMod val="65000"/>
            </a:schemeClr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NASAjpl-Black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>
            <a:lumMod val="50000"/>
          </a:schemeClr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tx2"/>
          </a:solidFill>
          <a:headEnd type="arrow"/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bg1"/>
            </a:solidFill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13125</TotalTime>
  <Words>417</Words>
  <Application>Microsoft Macintosh PowerPoint</Application>
  <PresentationFormat>On-screen Show (16:9)</PresentationFormat>
  <Paragraphs>42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NASAjpl-WhiteTheme-16x9-vA6</vt:lpstr>
      <vt:lpstr>NASAjpl-BlackTheme-16x9-vA6</vt:lpstr>
      <vt:lpstr>Office Theme</vt:lpstr>
      <vt:lpstr>PowerPoint Presentation</vt:lpstr>
      <vt:lpstr>PowerPoint Presentation</vt:lpstr>
      <vt:lpstr>PowerPoint Presentation</vt:lpstr>
      <vt:lpstr>PowerPoint Presentation</vt:lpstr>
      <vt:lpstr>Science Model Dashboard Comprehensive Research Impact Assessment Across Earth Science Models</vt:lpstr>
      <vt:lpstr>Science Model Dashboard</vt:lpstr>
      <vt:lpstr>LLM-Powered Citation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Carolyn M Stolze</dc:creator>
  <cp:lastModifiedBy>Kyongsik Yun</cp:lastModifiedBy>
  <cp:revision>126</cp:revision>
  <dcterms:created xsi:type="dcterms:W3CDTF">2016-09-08T21:41:17Z</dcterms:created>
  <dcterms:modified xsi:type="dcterms:W3CDTF">2025-09-01T23:27:43Z</dcterms:modified>
</cp:coreProperties>
</file>